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notesMasterIdLst>
    <p:notesMasterId r:id="rId26"/>
  </p:notesMasterIdLst>
  <p:sldIdLst>
    <p:sldId id="256" r:id="rId2"/>
    <p:sldId id="285" r:id="rId3"/>
    <p:sldId id="257" r:id="rId4"/>
    <p:sldId id="258" r:id="rId5"/>
    <p:sldId id="259" r:id="rId6"/>
    <p:sldId id="262" r:id="rId7"/>
    <p:sldId id="263" r:id="rId8"/>
    <p:sldId id="264" r:id="rId9"/>
    <p:sldId id="266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80" r:id="rId20"/>
    <p:sldId id="281" r:id="rId21"/>
    <p:sldId id="284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B50D0-9F53-40F4-9D2D-45111A9A5409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B23473-A157-4ABB-9262-2FE83ADAD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99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5036A-14C1-4829-B1C1-A6E836460E8D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624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231C7-E4FA-474A-B08D-0F9833A2B034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97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7602E-7132-4AE4-AA81-CC39E5EF4D97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754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89B49-837B-4266-BD67-E59EA6FC8983}" type="datetime1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980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541B3-CA45-43A9-AD6A-9C2D049AFB9E}" type="datetime1">
              <a:rPr lang="en-US" smtClean="0"/>
              <a:t>8/20/2025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066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6F9AA-B916-4BF5-8E10-60532CF91B66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649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F28C5-EA38-4D03-81B1-5ED92E40FDFF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654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D20CE-A92D-4EB2-8BF4-79100D364CAC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30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5ABED-2611-4EAC-82A3-C8245A9FC571}" type="datetime1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630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F3779-1F27-4C21-9120-5DDC563294C8}" type="datetime1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341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E537B-2F6A-4C3B-B816-1121EA0D37C5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866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9AE2B-D01D-4D96-9489-92DC9E78A52C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06288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EAFA0-6B27-4128-BAC5-794ED86077F1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741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E7D6E-8941-4F96-9136-AD757010FE14}" type="datetime1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103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3C40F-FBF6-451A-937B-CF78E060C04E}" type="datetime1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510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7D362-4B7C-455D-B7F0-A387110EFE8A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795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75BC0-F7B3-403A-975A-1B1995FEBD34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449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CF2D993-41A5-4605-ADB9-8F6AD49AE658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4579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hf hdr="0" ftr="0" dt="0"/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32784"/>
            <a:ext cx="8229600" cy="4192431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FAC121 Direct Taxes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Monsoon 2025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Instructor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Nimit Thaker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Prof.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Ruja Sutaria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A0526-E3D7-2545-60A0-BAFB32A73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733A5-AC24-C197-E386-0DD5EABEE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02" y="2536351"/>
            <a:ext cx="8814216" cy="1400530"/>
          </a:xfrm>
        </p:spPr>
        <p:txBody>
          <a:bodyPr/>
          <a:lstStyle/>
          <a:p>
            <a:pPr algn="ctr"/>
            <a:r>
              <a:rPr lang="en-US" sz="4400" b="1" u="sng" dirty="0"/>
              <a:t>Basic Concepts in Income Tax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AA178-5ACF-A006-366E-A4A5E30CA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14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Period: April 1 to March 31 of the next year</a:t>
            </a:r>
          </a:p>
          <a:p>
            <a:pPr marL="0" indent="0" algn="just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of previous year taxed in assessment year</a:t>
            </a:r>
          </a:p>
          <a:p>
            <a:pPr marL="0" indent="0" algn="just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AY 2025-26 = April 1, 2025 to March 31, 2026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CB9F8-DCFB-5385-5C26-B321C1AF3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 in which income is earned</a:t>
            </a:r>
          </a:p>
          <a:p>
            <a:pPr marL="0" indent="0" algn="just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Taxable in the following assessment year</a:t>
            </a:r>
          </a:p>
          <a:p>
            <a:pPr marL="0" indent="0" algn="just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Income of PY 2024-25 is taxable in AY 2025-26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2F34D-2B82-1CA6-5365-3806A0B0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 Previous Year &amp; New Business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399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 Previous Year: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All assesses follow the financial year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0695DE-06DD-BA27-2E95-884EAA6E66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384944"/>
              </p:ext>
            </p:extLst>
          </p:nvPr>
        </p:nvGraphicFramePr>
        <p:xfrm>
          <a:off x="929390" y="3429000"/>
          <a:ext cx="7270229" cy="323269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776182">
                  <a:extLst>
                    <a:ext uri="{9D8B030D-6E8A-4147-A177-3AD203B41FA5}">
                      <a16:colId xmlns:a16="http://schemas.microsoft.com/office/drawing/2014/main" val="748296451"/>
                    </a:ext>
                  </a:extLst>
                </a:gridCol>
                <a:gridCol w="3060969">
                  <a:extLst>
                    <a:ext uri="{9D8B030D-6E8A-4147-A177-3AD203B41FA5}">
                      <a16:colId xmlns:a16="http://schemas.microsoft.com/office/drawing/2014/main" val="1116727721"/>
                    </a:ext>
                  </a:extLst>
                </a:gridCol>
                <a:gridCol w="2433078">
                  <a:extLst>
                    <a:ext uri="{9D8B030D-6E8A-4147-A177-3AD203B41FA5}">
                      <a16:colId xmlns:a16="http://schemas.microsoft.com/office/drawing/2014/main" val="1963880606"/>
                    </a:ext>
                  </a:extLst>
                </a:gridCol>
              </a:tblGrid>
              <a:tr h="81393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 Previous Year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Second and subsequent previous years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957145"/>
                  </a:ext>
                </a:extLst>
              </a:tr>
              <a:tr h="81393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Starting Point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Commences on the date of setting up of the business/ profession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April 1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0603528"/>
                  </a:ext>
                </a:extLst>
              </a:tr>
              <a:tr h="70194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Ending Point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Immediately following March 31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March 31 of the following year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78777041"/>
                  </a:ext>
                </a:extLst>
              </a:tr>
              <a:tr h="70194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Duration of previous year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 months or less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 months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42853584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1264CB-6964-FB9E-F9C1-282100932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 (Definition)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73" y="1648191"/>
            <a:ext cx="6711654" cy="419548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</a:t>
            </a:r>
          </a:p>
          <a:p>
            <a:pPr marL="0" indent="0">
              <a:buNone/>
            </a:pPr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Hindu Undivided Family</a:t>
            </a:r>
          </a:p>
          <a:p>
            <a:pPr marL="0" indent="0">
              <a:buNone/>
            </a:pPr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Company</a:t>
            </a:r>
          </a:p>
          <a:p>
            <a:pPr marL="0" indent="0">
              <a:buNone/>
            </a:pPr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Firm</a:t>
            </a:r>
          </a:p>
          <a:p>
            <a:pPr marL="0" indent="0">
              <a:buNone/>
            </a:pPr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Association of Persons</a:t>
            </a:r>
          </a:p>
          <a:p>
            <a:pPr marL="0" indent="0">
              <a:buNone/>
            </a:pPr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Body of Individuals</a:t>
            </a:r>
          </a:p>
          <a:p>
            <a:pPr marL="0" indent="0">
              <a:buNone/>
            </a:pPr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Local Authority</a:t>
            </a:r>
          </a:p>
          <a:p>
            <a:pPr marL="0" indent="0">
              <a:buNone/>
            </a:pPr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Artificial Juridical Person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2CB74-DF4E-9F12-CD90-94E19A13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 -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73" y="1603220"/>
            <a:ext cx="6711654" cy="419548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Ahmedabad University – Artificial Juridical Person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Balaji Telefilms Ltd. – Company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Ahmedabad Municipal Corporation – Local Authority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Eros International – Company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ABC Housing Co-op Society – AOP/BOI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Joint Family of X – HUF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X &amp; Y (legal heirs) – AOP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LIC of India – Artificial Juridical Person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Prof. X – Individual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UTV Motion Pictures Ltd. – Company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034A1-FBDF-BDFC-41A8-0E1493058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Assessee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73" y="1663181"/>
            <a:ext cx="6711654" cy="419548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</a:p>
          <a:p>
            <a:pPr marL="0" indent="0" algn="just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Anyone liable to pay tax or against whom proceedings are initiated</a:t>
            </a:r>
          </a:p>
          <a:p>
            <a:pPr marL="0" indent="0" algn="just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Deemed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assesse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assessees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default included</a:t>
            </a:r>
          </a:p>
          <a:p>
            <a:pPr marL="0" indent="0" algn="just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Every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assessee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person, but not vice versa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99A3A-5BA0-C542-276F-CCFF08E0F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- Meaning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6094165-396F-D718-28BB-4104FFA203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423487"/>
              </p:ext>
            </p:extLst>
          </p:nvPr>
        </p:nvGraphicFramePr>
        <p:xfrm>
          <a:off x="449705" y="1600199"/>
          <a:ext cx="8237095" cy="46931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22295">
                  <a:extLst>
                    <a:ext uri="{9D8B030D-6E8A-4147-A177-3AD203B41FA5}">
                      <a16:colId xmlns:a16="http://schemas.microsoft.com/office/drawing/2014/main" val="3952587639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118638125"/>
                    </a:ext>
                  </a:extLst>
                </a:gridCol>
              </a:tblGrid>
              <a:tr h="1056352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400" b="1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Regular &amp; Definite Source</a:t>
                      </a:r>
                      <a:endParaRPr lang="en-IN" sz="2400" b="1" i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b="1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Diversion of income by overriding title vs. Application of income</a:t>
                      </a:r>
                      <a:r>
                        <a:rPr lang="en-IN" sz="2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9791394"/>
                  </a:ext>
                </a:extLst>
              </a:tr>
              <a:tr h="612013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400" b="1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Forms of income</a:t>
                      </a:r>
                      <a:endParaRPr lang="en-IN" sz="2400" b="1" i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b="1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Lump sum Receipt</a:t>
                      </a:r>
                      <a:r>
                        <a:rPr lang="en-IN" sz="2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710872"/>
                  </a:ext>
                </a:extLst>
              </a:tr>
              <a:tr h="612013">
                <a:tc>
                  <a:txBody>
                    <a:bodyPr/>
                    <a:lstStyle/>
                    <a:p>
                      <a:pPr algn="l"/>
                      <a:r>
                        <a:rPr lang="en-IN" sz="2400" b="1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Receipt vs. Accrual 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b="1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Pin Money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2233927"/>
                  </a:ext>
                </a:extLst>
              </a:tr>
              <a:tr h="612013">
                <a:tc>
                  <a:txBody>
                    <a:bodyPr/>
                    <a:lstStyle/>
                    <a:p>
                      <a:pPr algn="l"/>
                      <a:r>
                        <a:rPr lang="en-IN" sz="2400" b="1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Illegal Income</a:t>
                      </a:r>
                      <a:r>
                        <a:rPr lang="en-IN" sz="2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b="1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Income includes loss 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6325288"/>
                  </a:ext>
                </a:extLst>
              </a:tr>
              <a:tr h="612013">
                <a:tc>
                  <a:txBody>
                    <a:bodyPr/>
                    <a:lstStyle/>
                    <a:p>
                      <a:pPr algn="l"/>
                      <a:r>
                        <a:rPr lang="en-IN" sz="2400" b="1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Illegal Income</a:t>
                      </a:r>
                      <a:r>
                        <a:rPr lang="en-IN" sz="2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b="1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Award received by a sportsman 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1297376"/>
                  </a:ext>
                </a:extLst>
              </a:tr>
              <a:tr h="1056352">
                <a:tc>
                  <a:txBody>
                    <a:bodyPr/>
                    <a:lstStyle/>
                    <a:p>
                      <a:pPr algn="l"/>
                      <a:r>
                        <a:rPr lang="en-IN" sz="2400" b="1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Relief or reimbursement of expenses not treated as income</a:t>
                      </a:r>
                      <a:r>
                        <a:rPr lang="en-IN" sz="2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4910450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BBDD08-698E-60E9-8E5F-E98B769F7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as per Sec 2(24)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73" y="1693161"/>
            <a:ext cx="6711654" cy="419548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Includes:</a:t>
            </a:r>
          </a:p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Profits and Gains</a:t>
            </a:r>
          </a:p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Dividends</a:t>
            </a:r>
          </a:p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Voluntary contributions to trust</a:t>
            </a:r>
          </a:p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Perquisites</a:t>
            </a:r>
          </a:p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Allowances</a:t>
            </a:r>
          </a:p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Benefits from companies</a:t>
            </a:r>
          </a:p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Capital Gains</a:t>
            </a:r>
          </a:p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Winnings</a:t>
            </a:r>
          </a:p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Gifts &gt; ₹50,000,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4BB80-61E7-DE91-05FA-32167D208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Gross Total Income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73" y="1603220"/>
            <a:ext cx="6711654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Heads of Income:</a:t>
            </a:r>
          </a:p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Salaries</a:t>
            </a:r>
          </a:p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House Property</a:t>
            </a:r>
          </a:p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Business/Profession</a:t>
            </a:r>
          </a:p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Capital Gains</a:t>
            </a:r>
          </a:p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Other Sources</a:t>
            </a:r>
          </a:p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of these = Gross Total Income (Before 80C to 80U deductions)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91EB25-90B4-5F52-B992-0016055AA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793" y="138129"/>
            <a:ext cx="8229600" cy="907972"/>
          </a:xfrm>
        </p:spPr>
        <p:txBody>
          <a:bodyPr/>
          <a:lstStyle/>
          <a:p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Income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2BC3962-A601-64EC-28E0-EB9042B1B8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318183"/>
              </p:ext>
            </p:extLst>
          </p:nvPr>
        </p:nvGraphicFramePr>
        <p:xfrm>
          <a:off x="314793" y="1177796"/>
          <a:ext cx="8619345" cy="54178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7046730">
                  <a:extLst>
                    <a:ext uri="{9D8B030D-6E8A-4147-A177-3AD203B41FA5}">
                      <a16:colId xmlns:a16="http://schemas.microsoft.com/office/drawing/2014/main" val="3529614617"/>
                    </a:ext>
                  </a:extLst>
                </a:gridCol>
                <a:gridCol w="1572615">
                  <a:extLst>
                    <a:ext uri="{9D8B030D-6E8A-4147-A177-3AD203B41FA5}">
                      <a16:colId xmlns:a16="http://schemas.microsoft.com/office/drawing/2014/main" val="3711363836"/>
                    </a:ext>
                  </a:extLst>
                </a:gridCol>
              </a:tblGrid>
              <a:tr h="2708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Income from salaries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72045422"/>
                  </a:ext>
                </a:extLst>
              </a:tr>
              <a:tr h="2708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Income from House property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2110257"/>
                  </a:ext>
                </a:extLst>
              </a:tr>
              <a:tr h="2708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Profits and gains from business or profession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2156324"/>
                  </a:ext>
                </a:extLst>
              </a:tr>
              <a:tr h="2708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Capital Gains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7271486"/>
                  </a:ext>
                </a:extLst>
              </a:tr>
              <a:tr h="2708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Income from Other Sources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8750245"/>
                  </a:ext>
                </a:extLst>
              </a:tr>
              <a:tr h="2708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Gross Total Income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0448378"/>
                  </a:ext>
                </a:extLst>
              </a:tr>
              <a:tr h="2708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Less: Deductions u/s 80C to 80U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9185551"/>
                  </a:ext>
                </a:extLst>
              </a:tr>
              <a:tr h="2708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Income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8735004"/>
                  </a:ext>
                </a:extLst>
              </a:tr>
              <a:tr h="2708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Tax on Total Income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81508164"/>
                  </a:ext>
                </a:extLst>
              </a:tr>
              <a:tr h="2708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Less: Rebate under Section 87A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36851537"/>
                  </a:ext>
                </a:extLst>
              </a:tr>
              <a:tr h="2708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Income tax after Rebate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29195529"/>
                  </a:ext>
                </a:extLst>
              </a:tr>
              <a:tr h="2708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Add: Surcharge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24289725"/>
                  </a:ext>
                </a:extLst>
              </a:tr>
              <a:tr h="2708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Tax and surcharge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4337531"/>
                  </a:ext>
                </a:extLst>
              </a:tr>
              <a:tr h="2708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Add:  Health and Education Cess @4% on tax and surcharge. 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73631189"/>
                  </a:ext>
                </a:extLst>
              </a:tr>
              <a:tr h="2708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Tax Liability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96079185"/>
                  </a:ext>
                </a:extLst>
              </a:tr>
              <a:tr h="2708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Less: Pre-paid taxes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1150430"/>
                  </a:ext>
                </a:extLst>
              </a:tr>
              <a:tr h="2708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Self-assessment tax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88716037"/>
                  </a:ext>
                </a:extLst>
              </a:tr>
              <a:tr h="2708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TDS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9799150"/>
                  </a:ext>
                </a:extLst>
              </a:tr>
              <a:tr h="2708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 Tax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1652136"/>
                  </a:ext>
                </a:extLst>
              </a:tr>
              <a:tr h="2708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tax liability (rounded off to nearest 10 )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3679589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C41474-503A-9B83-5B15-A1336A862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Basis of Charge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73" y="1573240"/>
            <a:ext cx="6711654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Annual Tax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Charged in assessment year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Rates via Finance Act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Taxable Person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Taxable Total Income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Law as on April 1 of A.Y. applicable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AD08F8-6D35-4217-D38D-1519C9ED7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 Rates – A.Y. 2025-26 </a:t>
            </a:r>
            <a:b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(Old Regime)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399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Individual/HUF/AOP/BOI (&lt;60 yrs):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Up to ₹2.5L – NIL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₹2.5L–₹5L – 5%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₹5L–₹10L – 20%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₹10L+ – 30%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A13C6-76B5-A50D-AD4F-725836F9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 Rates </a:t>
            </a:r>
            <a:b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(Old Regime - Seniors)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1881283"/>
            <a:ext cx="8229600" cy="449899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 Citizens (60–80 yrs):</a:t>
            </a:r>
          </a:p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Up to ₹3L – NIL</a:t>
            </a:r>
          </a:p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₹3L–₹5L – 5%</a:t>
            </a:r>
          </a:p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₹5L–₹10L – 20%</a:t>
            </a:r>
          </a:p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Above ₹10L – 30%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 Seniors (80+):</a:t>
            </a:r>
          </a:p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Up to ₹5L – NIL</a:t>
            </a:r>
          </a:p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₹5L–₹10L – 20%</a:t>
            </a:r>
          </a:p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₹10L+ – 30%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DEFEA-AA47-BB16-6044-0C5F88EF5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Surcharge &amp; </a:t>
            </a:r>
            <a:r>
              <a:rPr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Cess</a:t>
            </a:r>
            <a:endParaRPr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73" y="1678171"/>
            <a:ext cx="6711654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₹50L–1Cr: 10%</a:t>
            </a:r>
          </a:p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₹1Cr–2Cr: 15%</a:t>
            </a:r>
          </a:p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₹2Cr–5Cr: 25%</a:t>
            </a:r>
          </a:p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₹5Cr+: 37%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&amp; Education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Cess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4%</a:t>
            </a:r>
          </a:p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Marginal relief applicable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FF025-73BF-679F-32D4-46831568C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Tax 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73" y="1603220"/>
            <a:ext cx="6711654" cy="419548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Firms/Local Authority: 30% + 12% surcharge (if &gt;₹1Cr) + 4%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cess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Domestic Co.:</a:t>
            </a:r>
          </a:p>
          <a:p>
            <a:pPr marL="0" indent="0" algn="just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&lt;₹400Cr turnover: 25%</a:t>
            </a:r>
          </a:p>
          <a:p>
            <a:pPr marL="0" indent="0" algn="just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&gt;₹400Cr turnover: 30%</a:t>
            </a:r>
          </a:p>
          <a:p>
            <a:pPr marL="0" indent="0" algn="just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Surcharge: 7%/12% + 4%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cess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Co.: 40% + 2%/5% surcharge + 4%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cess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42DAE-A0B8-1D52-09DD-685CF8894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4717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Tax Regime (Default) –</a:t>
            </a:r>
            <a:b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AY 2025-26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171"/>
            <a:ext cx="8229600" cy="505811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115BAC – Default Option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Slabs: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Up to ₹3L: NIL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₹3L–7L: 5%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₹7L–10L: 10%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₹10L–12L: 15%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₹12L–15L: 20%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Above ₹15L: 30%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Rebate under 87A up to ₹7L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Deduction: ₹50,000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F2FB4-9A69-54DE-761F-C78D50DFD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3F8B8B8-E5E5-C9CF-3D66-FEA2C283C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03850"/>
            <a:ext cx="8229600" cy="5522314"/>
          </a:xfrm>
        </p:spPr>
        <p:txBody>
          <a:bodyPr>
            <a:normAutofit fontScale="97500"/>
          </a:bodyPr>
          <a:lstStyle/>
          <a:p>
            <a:pPr marL="0" lvl="0" indent="0" algn="just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buNone/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Income Tax Law: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understanding of the Income Tax Law requires a study of the following:</a:t>
            </a:r>
          </a:p>
          <a:p>
            <a:pPr marL="0" lvl="0" indent="0" algn="just">
              <a:buNone/>
            </a:pP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Income-tax Act, 1961 The Income-tax Rules, 1962 Notifications, Circulars and clarifications issued from time to time by the CBDT Judicial decisions.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AD805E-5A41-5E3D-D49A-8332EDEA6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6111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FDFD-13F3-F5C2-F96D-34408C4A5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63423"/>
            <a:ext cx="8229600" cy="2097151"/>
          </a:xfrm>
        </p:spPr>
        <p:txBody>
          <a:bodyPr>
            <a:noAutofit/>
          </a:bodyPr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New Tax Regime in India (PY 2024-25): Benefits, Limitations, Slabs, and Comparison with the Old Regime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1479918-5C62-BC43-FA03-D679F118AD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141417"/>
              </p:ext>
            </p:extLst>
          </p:nvPr>
        </p:nvGraphicFramePr>
        <p:xfrm>
          <a:off x="457200" y="2746542"/>
          <a:ext cx="8229600" cy="39163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15319068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674450409"/>
                    </a:ext>
                  </a:extLst>
                </a:gridCol>
              </a:tblGrid>
              <a:tr h="4754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 Taxable Income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Rate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(New Regime FY 2024-25)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332616852"/>
                  </a:ext>
                </a:extLst>
              </a:tr>
              <a:tr h="4754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 to ₹3,00,000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Nil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006231422"/>
                  </a:ext>
                </a:extLst>
              </a:tr>
              <a:tr h="4754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₹3,00,001 to ₹7,00,000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5%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459196787"/>
                  </a:ext>
                </a:extLst>
              </a:tr>
              <a:tr h="4754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₹7,00,001 to ₹10,00,000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10%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514945385"/>
                  </a:ext>
                </a:extLst>
              </a:tr>
              <a:tr h="4754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₹10,00,001 to ₹12,00,000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15%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711164722"/>
                  </a:ext>
                </a:extLst>
              </a:tr>
              <a:tr h="4754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₹12,00,001 to ₹15,00,000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20%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670506401"/>
                  </a:ext>
                </a:extLst>
              </a:tr>
              <a:tr h="4754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Above ₹15,00,000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30%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80401873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465F81-E6A8-B663-D681-91EB5C570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464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CEFAE-12D7-DAB7-6905-C5FC2E294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A7939-6F0F-ACB0-CACD-BD50712BA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984537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Table: Old vs. New Tax Regime 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(FY 2024-25)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72335C2-E3F3-297C-D3BC-36DCBECA9C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3063434"/>
              </p:ext>
            </p:extLst>
          </p:nvPr>
        </p:nvGraphicFramePr>
        <p:xfrm>
          <a:off x="322289" y="1244184"/>
          <a:ext cx="8229600" cy="55195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78718075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8375268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722611530"/>
                    </a:ext>
                  </a:extLst>
                </a:gridCol>
              </a:tblGrid>
              <a:tr h="35997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Particulars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Old Tax Regime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 Tax Regime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263994567"/>
                  </a:ext>
                </a:extLst>
              </a:tr>
              <a:tr h="35997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Exemption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₹2.5 lakh (below 60 yrs)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₹3 lakh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029447213"/>
                  </a:ext>
                </a:extLst>
              </a:tr>
              <a:tr h="35997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₹3 lakh (60-80 yrs), ₹5 lakh (&gt;80 yrs)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Applies to all ages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981124991"/>
                  </a:ext>
                </a:extLst>
              </a:tr>
              <a:tr h="35997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5% Slab Range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₹2.5–5 lakh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₹3–7 lakh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5664206"/>
                  </a:ext>
                </a:extLst>
              </a:tr>
              <a:tr h="35997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10% Slab Range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₹7–10 lakh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734406424"/>
                  </a:ext>
                </a:extLst>
              </a:tr>
              <a:tr h="35997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15% Slab Range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₹10–12 lakh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392978098"/>
                  </a:ext>
                </a:extLst>
              </a:tr>
              <a:tr h="35997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20% Slab Range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₹5–10 lakh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₹12–15 lakh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864665464"/>
                  </a:ext>
                </a:extLst>
              </a:tr>
              <a:tr h="35997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30% Slab Range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&gt;₹10 lakh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&gt;₹15 lakh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636428728"/>
                  </a:ext>
                </a:extLst>
              </a:tr>
              <a:tr h="35997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Highest Surcharge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 to 37% (OTR, depending on income)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25% above ₹2 crore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424354600"/>
                  </a:ext>
                </a:extLst>
              </a:tr>
              <a:tr h="35997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 Deduction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₹50,000 (salaried)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₹50,000 (salaried)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921391810"/>
                  </a:ext>
                </a:extLst>
              </a:tr>
              <a:tr h="35997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Deductions/Exemptions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Broad spectrum available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limited (mainly Std. Ded.)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461432534"/>
                  </a:ext>
                </a:extLst>
              </a:tr>
              <a:tr h="35997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Section 87A rebate limit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₹5 lakh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₹7 lakh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54303008"/>
                  </a:ext>
                </a:extLst>
              </a:tr>
              <a:tr h="35997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Compliance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(proofs required)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(simplified filing)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86322490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F395FA-2F85-370F-6B42-AC5FEAE0C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0474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of NTR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73" y="1513279"/>
            <a:ext cx="6711654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Simpler filing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Fewer exemptions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 slabs (no senior benefits)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deductions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Deduction available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Rebate up to ₹7L income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FE293-85D7-1A00-FFC1-AF6BB7EE0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NTR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73" y="1483298"/>
            <a:ext cx="6711654" cy="419548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Simplified taxation</a:t>
            </a:r>
          </a:p>
          <a:p>
            <a:pPr marL="0" indent="0" algn="just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tax for low-investment earners</a:t>
            </a:r>
          </a:p>
          <a:p>
            <a:pPr marL="0" indent="0" algn="just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₹50,000 Standard Deduction</a:t>
            </a:r>
          </a:p>
          <a:p>
            <a:pPr marL="0" indent="0" algn="just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Tax up to ₹7L</a:t>
            </a:r>
          </a:p>
          <a:p>
            <a:pPr marL="0" indent="0" algn="just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Discourages misuse of exemptions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99044-0CF8-F50E-309B-FD6503A10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NTR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73" y="1543260"/>
            <a:ext cx="6711654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deductions not allowed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ideal for high-deduction taxpayers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senior citizen slab benefit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planning scope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issues for old investors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C00C20-1BA9-9A59-2907-DCEFA68A1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64</TotalTime>
  <Words>1312</Words>
  <Application>Microsoft Office PowerPoint</Application>
  <PresentationFormat>On-screen Show (4:3)</PresentationFormat>
  <Paragraphs>278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Calibri</vt:lpstr>
      <vt:lpstr>Century Gothic</vt:lpstr>
      <vt:lpstr>Times New Roman</vt:lpstr>
      <vt:lpstr>Wingdings 3</vt:lpstr>
      <vt:lpstr>Ion</vt:lpstr>
      <vt:lpstr>Course: FAC121 Direct Taxes  Semester: Monsoon 2025  Course Instructor: Prof. Nimit Thaker       Prof. Ruja Sutaria  </vt:lpstr>
      <vt:lpstr>Basic Concepts in Income Tax</vt:lpstr>
      <vt:lpstr>Assessment Year</vt:lpstr>
      <vt:lpstr>Previous Year</vt:lpstr>
      <vt:lpstr>Uniform Previous Year &amp; New Business Setup</vt:lpstr>
      <vt:lpstr>Person (Definition)</vt:lpstr>
      <vt:lpstr>Person - Examples</vt:lpstr>
      <vt:lpstr>Assessee</vt:lpstr>
      <vt:lpstr>Income - Meaning</vt:lpstr>
      <vt:lpstr>Income as per Sec 2(24)</vt:lpstr>
      <vt:lpstr>Gross Total Income</vt:lpstr>
      <vt:lpstr>Total Income</vt:lpstr>
      <vt:lpstr>Basis of Charge</vt:lpstr>
      <vt:lpstr>Tax Rates – A.Y. 2025-26  (Old Regime)</vt:lpstr>
      <vt:lpstr>Tax Rates  (Old Regime - Seniors)</vt:lpstr>
      <vt:lpstr>Surcharge &amp; Cess</vt:lpstr>
      <vt:lpstr>Other Tax Rates</vt:lpstr>
      <vt:lpstr>New Tax Regime (Default) –  AY 2025-26</vt:lpstr>
      <vt:lpstr>PowerPoint Presentation</vt:lpstr>
      <vt:lpstr>The New Tax Regime in India (PY 2024-25): Benefits, Limitations, Slabs, and Comparison with the Old Regime</vt:lpstr>
      <vt:lpstr>Comparative Table: Old vs. New Tax Regime  (FY 2024-25) </vt:lpstr>
      <vt:lpstr>Features of NTR</vt:lpstr>
      <vt:lpstr>Benefits of NTR</vt:lpstr>
      <vt:lpstr>Limitations of NTR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</cp:lastModifiedBy>
  <cp:revision>13</cp:revision>
  <dcterms:created xsi:type="dcterms:W3CDTF">2013-01-27T09:14:16Z</dcterms:created>
  <dcterms:modified xsi:type="dcterms:W3CDTF">2025-08-20T12:09:04Z</dcterms:modified>
  <cp:category/>
</cp:coreProperties>
</file>